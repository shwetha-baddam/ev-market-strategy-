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869680" y="457200"/>
            <a:ext cx="1920240" cy="1920240"/>
          </a:xfrm>
          <a:prstGeom prst="ellipse">
            <a:avLst/>
          </a:prstGeom>
          <a:solidFill>
            <a:srgbClr val="009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84080" y="1920240"/>
            <a:ext cx="1188720" cy="1188720"/>
          </a:xfrm>
          <a:prstGeom prst="ellipse">
            <a:avLst/>
          </a:prstGeom>
          <a:solidFill>
            <a:srgbClr val="F6B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46720" y="2743200"/>
            <a:ext cx="2560320" cy="2560320"/>
          </a:xfrm>
          <a:prstGeom prst="ellipse">
            <a:avLst/>
          </a:prstGeom>
          <a:solidFill>
            <a:srgbClr val="1F4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4023360"/>
            <a:ext cx="1463040" cy="1463040"/>
          </a:xfrm>
          <a:prstGeom prst="ellipse">
            <a:avLst/>
          </a:prstGeom>
          <a:solidFill>
            <a:srgbClr val="5ED3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822960"/>
            <a:ext cx="71323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300" b="1">
                <a:solidFill>
                  <a:srgbClr val="5ED3D5"/>
                </a:solidFill>
                <a:latin typeface="Aptos"/>
              </a:rPr>
              <a:t>PROJECT PRESENTATION  •  ECONOMICS + BUSINESS +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7772400" cy="1371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Aptos"/>
              </a:rPr>
              <a:t>EV MARKET ENTRY
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154680"/>
            <a:ext cx="7132320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900" b="0">
                <a:solidFill>
                  <a:srgbClr val="DBE8EF"/>
                </a:solidFill>
                <a:latin typeface="Aptos"/>
              </a:rPr>
              <a:t>Tata.ev and Ola Electric: demand, adoption, scale and competition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983480"/>
            <a:ext cx="621792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500" b="1">
                <a:solidFill>
                  <a:srgbClr val="F6B73C"/>
                </a:solidFill>
                <a:latin typeface="Aptos"/>
              </a:rPr>
              <a:t>Focus: CO1 • CO2 • CO3 • CO4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5806440"/>
            <a:ext cx="6400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Aptos"/>
              </a:rPr>
              <a:t>Name: __________________    Class/Section: __________________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217920"/>
            <a:ext cx="10972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tos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2700" b="1">
                <a:solidFill>
                  <a:srgbClr val="12233B"/>
                </a:solidFill>
                <a:latin typeface="Aptos"/>
              </a:rPr>
              <a:t>1. Introduction to the Topic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96112"/>
            <a:ext cx="960120" cy="54864"/>
          </a:xfrm>
          <a:prstGeom prst="rect">
            <a:avLst/>
          </a:prstGeom>
          <a:solidFill>
            <a:srgbClr val="009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024128"/>
            <a:ext cx="1097280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200" b="0">
                <a:solidFill>
                  <a:srgbClr val="647382"/>
                </a:solidFill>
                <a:latin typeface="Aptos"/>
              </a:rPr>
              <a:t>Understanding how EV firms can attract customers and compete in India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6400800" cy="4297680"/>
          </a:xfrm>
          <a:prstGeom prst="rect">
            <a:avLst/>
          </a:prstGeom>
          <a:noFill/>
        </p:spPr>
        <p:txBody>
          <a:bodyPr wrap="square" lIns="73152" rIns="54864" tIns="36576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63342"/>
                </a:solidFill>
                <a:latin typeface="Aptos"/>
              </a:defRPr>
            </a:pPr>
            <a:r>
              <a:t>•  Electric vehicles (EVs) use electric motors and rechargeable batteries instead of petrol or diesel engines.</a:t>
            </a:r>
          </a:p>
          <a:p>
            <a:pPr>
              <a:spcAft>
                <a:spcPts val="1400"/>
              </a:spcAft>
              <a:defRPr sz="1700">
                <a:solidFill>
                  <a:srgbClr val="263342"/>
                </a:solidFill>
                <a:latin typeface="Aptos"/>
              </a:defRPr>
            </a:pPr>
            <a:r>
              <a:t>•  Tata.ev competes mainly in electric passenger cars; Ola Electric is strongly associated with electric scooters.</a:t>
            </a:r>
          </a:p>
          <a:p>
            <a:pPr>
              <a:spcAft>
                <a:spcPts val="1400"/>
              </a:spcAft>
              <a:defRPr sz="1700">
                <a:solidFill>
                  <a:srgbClr val="263342"/>
                </a:solidFill>
                <a:latin typeface="Aptos"/>
              </a:defRPr>
            </a:pPr>
            <a:r>
              <a:t>•  Market entry and growth depend on price, subsidies, charging access, driving range, production cost and rivals’ responses.</a:t>
            </a:r>
          </a:p>
          <a:p>
            <a:pPr>
              <a:spcAft>
                <a:spcPts val="1400"/>
              </a:spcAft>
              <a:defRPr sz="1700">
                <a:solidFill>
                  <a:srgbClr val="263342"/>
                </a:solidFill>
                <a:latin typeface="Aptos"/>
              </a:defRPr>
            </a:pPr>
            <a:r>
              <a:t>•  This project connects economic theory with consumer behaviour, business strategy and Python-based data analysis.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52360" y="1691640"/>
            <a:ext cx="4069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52360" y="1691640"/>
            <a:ext cx="73152" cy="1143000"/>
          </a:xfrm>
          <a:prstGeom prst="rect">
            <a:avLst/>
          </a:prstGeom>
          <a:solidFill>
            <a:srgbClr val="009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35240" y="1837944"/>
            <a:ext cx="374904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600" b="1">
                <a:solidFill>
                  <a:srgbClr val="12233B"/>
                </a:solidFill>
                <a:latin typeface="Aptos"/>
              </a:rPr>
              <a:t>CORE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2286000"/>
            <a:ext cx="3749040" cy="4297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400" b="0">
                <a:solidFill>
                  <a:srgbClr val="263342"/>
                </a:solidFill>
                <a:latin typeface="Aptos"/>
              </a:rPr>
              <a:t>How can EV companies grow demand while keeping costs and competition manageable?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3063240"/>
            <a:ext cx="4069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52360" y="3063240"/>
            <a:ext cx="73152" cy="1143000"/>
          </a:xfrm>
          <a:prstGeom prst="rect">
            <a:avLst/>
          </a:prstGeom>
          <a:solidFill>
            <a:srgbClr val="F6B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3209544"/>
            <a:ext cx="374904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600" b="1">
                <a:solidFill>
                  <a:srgbClr val="12233B"/>
                </a:solidFill>
                <a:latin typeface="Aptos"/>
              </a:rPr>
              <a:t>TWO MARKETS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3657600"/>
            <a:ext cx="3749040" cy="4297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400" b="0">
                <a:solidFill>
                  <a:srgbClr val="263342"/>
                </a:solidFill>
                <a:latin typeface="Aptos"/>
              </a:rPr>
              <a:t>Cars: Tata.ev  |  Electric two-wheelers: Ola Electric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4434840"/>
            <a:ext cx="4069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52360" y="4434840"/>
            <a:ext cx="73152" cy="1143000"/>
          </a:xfrm>
          <a:prstGeom prst="rect">
            <a:avLst/>
          </a:prstGeom>
          <a:solidFill>
            <a:srgbClr val="5ED3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5240" y="4581144"/>
            <a:ext cx="374904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600" b="1">
                <a:solidFill>
                  <a:srgbClr val="12233B"/>
                </a:solidFill>
                <a:latin typeface="Aptos"/>
              </a:rPr>
              <a:t>PROJECT LENS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5029200"/>
            <a:ext cx="3749040" cy="4297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400" b="0">
                <a:solidFill>
                  <a:srgbClr val="263342"/>
                </a:solidFill>
                <a:latin typeface="Aptos"/>
              </a:rPr>
              <a:t>Customer • Cost • Capacity • Competitor response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37960"/>
            <a:ext cx="10698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800" b="0">
                <a:solidFill>
                  <a:srgbClr val="647382"/>
                </a:solidFill>
                <a:latin typeface="Aptos"/>
              </a:rPr>
              <a:t>EV MARKET ENTRY STRATEGY  |  TATA.ev &amp; OLA ELECTRIC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510528"/>
            <a:ext cx="411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1">
                <a:solidFill>
                  <a:srgbClr val="009BA0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2700" b="1">
                <a:solidFill>
                  <a:srgbClr val="12233B"/>
                </a:solidFill>
                <a:latin typeface="Aptos"/>
              </a:rPr>
              <a:t>2. Motivation for Carrying Out the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96112"/>
            <a:ext cx="960120" cy="54864"/>
          </a:xfrm>
          <a:prstGeom prst="rect">
            <a:avLst/>
          </a:prstGeom>
          <a:solidFill>
            <a:srgbClr val="009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024128"/>
            <a:ext cx="1097280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200" b="0">
                <a:solidFill>
                  <a:srgbClr val="647382"/>
                </a:solidFill>
                <a:latin typeface="Aptos"/>
              </a:rPr>
              <a:t>Why this topic matters to businesses, consumers and policymakers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35204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73152" cy="1600200"/>
          </a:xfrm>
          <a:prstGeom prst="rect">
            <a:avLst/>
          </a:prstGeom>
          <a:solidFill>
            <a:srgbClr val="009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746504"/>
            <a:ext cx="320040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700" b="1">
                <a:solidFill>
                  <a:srgbClr val="12233B"/>
                </a:solidFill>
                <a:latin typeface="Aptos"/>
              </a:rPr>
              <a:t>AFFORDABILITY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194560"/>
            <a:ext cx="3200400" cy="8869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400" b="0">
                <a:solidFill>
                  <a:srgbClr val="263342"/>
                </a:solidFill>
                <a:latin typeface="Aptos"/>
              </a:rPr>
              <a:t>Subsidy changes can alter the final purchase price and customers’ willingness to buy.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00200"/>
            <a:ext cx="35204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600200"/>
            <a:ext cx="73152" cy="1600200"/>
          </a:xfrm>
          <a:prstGeom prst="rect">
            <a:avLst/>
          </a:prstGeom>
          <a:solidFill>
            <a:srgbClr val="F6B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746504"/>
            <a:ext cx="320040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700" b="1">
                <a:solidFill>
                  <a:srgbClr val="12233B"/>
                </a:solidFill>
                <a:latin typeface="Aptos"/>
              </a:rPr>
              <a:t>CUSTOMER CONFIDENCE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194560"/>
            <a:ext cx="3200400" cy="8869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400" b="0">
                <a:solidFill>
                  <a:srgbClr val="263342"/>
                </a:solidFill>
                <a:latin typeface="Aptos"/>
              </a:rPr>
              <a:t>Range anxiety, charging access and battery concerns can delay adoption.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00200"/>
            <a:ext cx="35204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600200"/>
            <a:ext cx="73152" cy="1600200"/>
          </a:xfrm>
          <a:prstGeom prst="rect">
            <a:avLst/>
          </a:prstGeom>
          <a:solidFill>
            <a:srgbClr val="5ED3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746504"/>
            <a:ext cx="320040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700" b="1">
                <a:solidFill>
                  <a:srgbClr val="12233B"/>
                </a:solidFill>
                <a:latin typeface="Aptos"/>
              </a:rPr>
              <a:t>COST &amp; SCALE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194560"/>
            <a:ext cx="3200400" cy="8869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400" b="0">
                <a:solidFill>
                  <a:srgbClr val="263342"/>
                </a:solidFill>
                <a:latin typeface="Aptos"/>
              </a:rPr>
              <a:t>Manufacturing at an efficient scale may reduce average cost and improve competitiveness.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657600"/>
            <a:ext cx="10789920" cy="1828800"/>
          </a:xfrm>
          <a:prstGeom prst="rect">
            <a:avLst/>
          </a:prstGeom>
          <a:noFill/>
        </p:spPr>
        <p:txBody>
          <a:bodyPr wrap="square" lIns="73152" rIns="54864" tIns="36576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63342"/>
                </a:solidFill>
                <a:latin typeface="Aptos"/>
              </a:defRPr>
            </a:pPr>
            <a:r>
              <a:t>•  The topic is relevant because firms must make decisions under changing policy, customer expectations and competitive pressure.</a:t>
            </a:r>
          </a:p>
          <a:p>
            <a:pPr>
              <a:spcAft>
                <a:spcPts val="1200"/>
              </a:spcAft>
              <a:defRPr sz="1700">
                <a:solidFill>
                  <a:srgbClr val="263342"/>
                </a:solidFill>
                <a:latin typeface="Aptos"/>
              </a:defRPr>
            </a:pPr>
            <a:r>
              <a:t>•  A comparison of Tata.ev and Ola Electric shows how different EV segments may need different pricing and growth strategies.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37960"/>
            <a:ext cx="10698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800" b="0">
                <a:solidFill>
                  <a:srgbClr val="647382"/>
                </a:solidFill>
                <a:latin typeface="Aptos"/>
              </a:rPr>
              <a:t>EV MARKET ENTRY STRATEGY  |  TATA.ev &amp; OLA ELECTRIC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510528"/>
            <a:ext cx="411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1">
                <a:solidFill>
                  <a:srgbClr val="009BA0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2700" b="1">
                <a:solidFill>
                  <a:srgbClr val="12233B"/>
                </a:solidFill>
                <a:latin typeface="Aptos"/>
              </a:rPr>
              <a:t>3. Objectives of the Study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96112"/>
            <a:ext cx="960120" cy="54864"/>
          </a:xfrm>
          <a:prstGeom prst="rect">
            <a:avLst/>
          </a:prstGeom>
          <a:solidFill>
            <a:srgbClr val="009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024128"/>
            <a:ext cx="1097280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200" b="0">
                <a:solidFill>
                  <a:srgbClr val="647382"/>
                </a:solidFill>
                <a:latin typeface="Aptos"/>
              </a:rPr>
              <a:t>Specific aims of the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5257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73152" cy="1115568"/>
          </a:xfrm>
          <a:prstGeom prst="rect">
            <a:avLst/>
          </a:prstGeom>
          <a:solidFill>
            <a:srgbClr val="009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55063"/>
            <a:ext cx="49377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500" b="1">
                <a:solidFill>
                  <a:srgbClr val="12233B"/>
                </a:solidFill>
                <a:latin typeface="Aptos"/>
              </a:rPr>
              <a:t>Study price elasticity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03120"/>
            <a:ext cx="4937760" cy="402335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200" b="0">
                <a:solidFill>
                  <a:srgbClr val="263342"/>
                </a:solidFill>
                <a:latin typeface="Aptos"/>
              </a:rPr>
              <a:t>Explain how EV demand may respond when subsidies or prices change.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508760"/>
            <a:ext cx="5257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508760"/>
            <a:ext cx="73152" cy="1115568"/>
          </a:xfrm>
          <a:prstGeom prst="rect">
            <a:avLst/>
          </a:prstGeom>
          <a:solidFill>
            <a:srgbClr val="F6B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55063"/>
            <a:ext cx="49377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500" b="1">
                <a:solidFill>
                  <a:srgbClr val="12233B"/>
                </a:solidFill>
                <a:latin typeface="Aptos"/>
              </a:rPr>
              <a:t>Understand adoption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03120"/>
            <a:ext cx="4937760" cy="402335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200" b="0">
                <a:solidFill>
                  <a:srgbClr val="263342"/>
                </a:solidFill>
                <a:latin typeface="Aptos"/>
              </a:rPr>
              <a:t>Identify how range anxiety, charging access and trust influence buyers.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926080"/>
            <a:ext cx="5257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2926080"/>
            <a:ext cx="73152" cy="1115568"/>
          </a:xfrm>
          <a:prstGeom prst="rect">
            <a:avLst/>
          </a:prstGeom>
          <a:solidFill>
            <a:srgbClr val="5ED3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072384"/>
            <a:ext cx="49377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500" b="1">
                <a:solidFill>
                  <a:srgbClr val="12233B"/>
                </a:solidFill>
                <a:latin typeface="Aptos"/>
              </a:rPr>
              <a:t>Evaluate production scale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520440"/>
            <a:ext cx="4937760" cy="402335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200" b="0">
                <a:solidFill>
                  <a:srgbClr val="263342"/>
                </a:solidFill>
                <a:latin typeface="Aptos"/>
              </a:rPr>
              <a:t>Explain capacity planning, fixed costs and economies of scale.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926080"/>
            <a:ext cx="5257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2926080"/>
            <a:ext cx="73152" cy="1115568"/>
          </a:xfrm>
          <a:prstGeom prst="rect">
            <a:avLst/>
          </a:prstGeom>
          <a:solidFill>
            <a:srgbClr val="009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072384"/>
            <a:ext cx="49377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500" b="1">
                <a:solidFill>
                  <a:srgbClr val="12233B"/>
                </a:solidFill>
                <a:latin typeface="Aptos"/>
              </a:rPr>
              <a:t>Analyse competition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520440"/>
            <a:ext cx="4937760" cy="402335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200" b="0">
                <a:solidFill>
                  <a:srgbClr val="263342"/>
                </a:solidFill>
                <a:latin typeface="Aptos"/>
              </a:rPr>
              <a:t>Explore entry deterrence and limit pricing as strategic concepts.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20440" y="5532120"/>
            <a:ext cx="5257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520440" y="5532120"/>
            <a:ext cx="73152" cy="1115568"/>
          </a:xfrm>
          <a:prstGeom prst="rect">
            <a:avLst/>
          </a:prstGeom>
          <a:solidFill>
            <a:srgbClr val="F6B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03320" y="5678424"/>
            <a:ext cx="49377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500" b="1">
                <a:solidFill>
                  <a:srgbClr val="12233B"/>
                </a:solidFill>
                <a:latin typeface="Aptos"/>
              </a:rPr>
              <a:t>Use Python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03320" y="6126480"/>
            <a:ext cx="4937760" cy="402335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200" b="0">
                <a:solidFill>
                  <a:srgbClr val="263342"/>
                </a:solidFill>
                <a:latin typeface="Aptos"/>
              </a:rPr>
              <a:t>Clean, analyse and visualise sample or public data to support conclusions.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37960"/>
            <a:ext cx="10698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800" b="0">
                <a:solidFill>
                  <a:srgbClr val="647382"/>
                </a:solidFill>
                <a:latin typeface="Aptos"/>
              </a:rPr>
              <a:t>EV MARKET ENTRY STRATEGY  |  TATA.ev &amp; OLA ELECTRIC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510528"/>
            <a:ext cx="411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1">
                <a:solidFill>
                  <a:srgbClr val="009BA0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2700" b="1">
                <a:solidFill>
                  <a:srgbClr val="12233B"/>
                </a:solidFill>
                <a:latin typeface="Aptos"/>
              </a:rPr>
              <a:t>4. Subject Topics and Justification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96112"/>
            <a:ext cx="960120" cy="54864"/>
          </a:xfrm>
          <a:prstGeom prst="rect">
            <a:avLst/>
          </a:prstGeom>
          <a:solidFill>
            <a:srgbClr val="009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024128"/>
            <a:ext cx="1097280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200" b="0">
                <a:solidFill>
                  <a:srgbClr val="647382"/>
                </a:solidFill>
                <a:latin typeface="Aptos"/>
              </a:rPr>
              <a:t>Three subject areas provide a joined-up view of the EV market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54480"/>
            <a:ext cx="36118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554480"/>
            <a:ext cx="73152" cy="3383280"/>
          </a:xfrm>
          <a:prstGeom prst="rect">
            <a:avLst/>
          </a:prstGeom>
          <a:solidFill>
            <a:srgbClr val="009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0784"/>
            <a:ext cx="329184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700" b="1">
                <a:solidFill>
                  <a:srgbClr val="12233B"/>
                </a:solidFill>
                <a:latin typeface="Aptos"/>
              </a:rPr>
              <a:t>ECONOMICS — CO1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48840"/>
            <a:ext cx="3291840" cy="2670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400" b="0">
                <a:solidFill>
                  <a:srgbClr val="263342"/>
                </a:solidFill>
                <a:latin typeface="Aptos"/>
              </a:rPr>
              <a:t>Topic: Price elasticity of demand and subsidies
Why selected: It explains how price changes can affect quantity demanded and why a subsidy reduction may influence affordability.
Project use: Compare demand scenarios before and after a subsidy change.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554480"/>
            <a:ext cx="36118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554480"/>
            <a:ext cx="73152" cy="3383280"/>
          </a:xfrm>
          <a:prstGeom prst="rect">
            <a:avLst/>
          </a:prstGeom>
          <a:solidFill>
            <a:srgbClr val="F6B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700784"/>
            <a:ext cx="329184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700" b="1">
                <a:solidFill>
                  <a:srgbClr val="12233B"/>
                </a:solidFill>
                <a:latin typeface="Aptos"/>
              </a:rPr>
              <a:t>BUSINESS ENVIRONMENT — CO2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148840"/>
            <a:ext cx="3291840" cy="2670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400" b="0">
                <a:solidFill>
                  <a:srgbClr val="263342"/>
                </a:solidFill>
                <a:latin typeface="Aptos"/>
              </a:rPr>
              <a:t>Topic: Consumer adoption and range anxiety
Why selected: Buyers consider more than price; they also evaluate charging access, range, battery life, convenience and brand trust.
Project use: Identify barriers and possible actions to build confidence.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554480"/>
            <a:ext cx="36118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1554480"/>
            <a:ext cx="73152" cy="3383280"/>
          </a:xfrm>
          <a:prstGeom prst="rect">
            <a:avLst/>
          </a:prstGeom>
          <a:solidFill>
            <a:srgbClr val="5ED3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79" y="1700784"/>
            <a:ext cx="329184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700" b="1">
                <a:solidFill>
                  <a:srgbClr val="12233B"/>
                </a:solidFill>
                <a:latin typeface="Aptos"/>
              </a:rPr>
              <a:t>PYTHON / DATA ANALYSIS — CO3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2148840"/>
            <a:ext cx="3291840" cy="2670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400" b="0">
                <a:solidFill>
                  <a:srgbClr val="263342"/>
                </a:solidFill>
                <a:latin typeface="Aptos"/>
              </a:rPr>
              <a:t>Topic: Data cleaning, calculations and visualisation
Why selected: Python helps organise data and compare scenarios consistently.
Project use: Use pandas for tables and calculations, and matplotlib for charts.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349240"/>
            <a:ext cx="1078992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500" b="1">
                <a:solidFill>
                  <a:srgbClr val="12233B"/>
                </a:solidFill>
                <a:latin typeface="Aptos"/>
              </a:rPr>
              <a:t>Additional strategic analysis: CO3 — manufacturing capacity and economies of scale; CO4 — entry deterrence and limit pricing.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37960"/>
            <a:ext cx="10698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800" b="0">
                <a:solidFill>
                  <a:srgbClr val="647382"/>
                </a:solidFill>
                <a:latin typeface="Aptos"/>
              </a:rPr>
              <a:t>EV MARKET ENTRY STRATEGY  |  TATA.ev &amp; OLA ELECTRIC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510528"/>
            <a:ext cx="411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1">
                <a:solidFill>
                  <a:srgbClr val="009BA0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2700" b="1">
                <a:solidFill>
                  <a:srgbClr val="12233B"/>
                </a:solidFill>
                <a:latin typeface="Aptos"/>
              </a:rPr>
              <a:t>CO1 — Economics: Price Elasticity &amp; Subsidies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96112"/>
            <a:ext cx="960120" cy="54864"/>
          </a:xfrm>
          <a:prstGeom prst="rect">
            <a:avLst/>
          </a:prstGeom>
          <a:solidFill>
            <a:srgbClr val="009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024128"/>
            <a:ext cx="1097280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200" b="0">
                <a:solidFill>
                  <a:srgbClr val="647382"/>
                </a:solidFill>
                <a:latin typeface="Aptos"/>
              </a:rPr>
              <a:t>A subsidy can lower the buyer’s effective price; the demand response depends on elasticity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73152" cy="1874519"/>
          </a:xfrm>
          <a:prstGeom prst="rect">
            <a:avLst/>
          </a:prstGeom>
          <a:solidFill>
            <a:srgbClr val="009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700784"/>
            <a:ext cx="49377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700" b="1">
                <a:solidFill>
                  <a:srgbClr val="12233B"/>
                </a:solidFill>
                <a:latin typeface="Aptos"/>
              </a:rPr>
              <a:t>PRICE ELASTICITY OF DEMAND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148840"/>
            <a:ext cx="4937760" cy="116128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400" b="0">
                <a:solidFill>
                  <a:srgbClr val="263342"/>
                </a:solidFill>
                <a:latin typeface="Aptos"/>
              </a:rPr>
              <a:t>PED = % change in quantity demanded ÷ % change in price
More elastic demand: buyers respond strongly to a price change.
Less elastic demand: buyers respond less strongly.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5448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554480"/>
            <a:ext cx="73152" cy="1874519"/>
          </a:xfrm>
          <a:prstGeom prst="rect">
            <a:avLst/>
          </a:prstGeom>
          <a:solidFill>
            <a:srgbClr val="F6B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700784"/>
            <a:ext cx="49377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700" b="1">
                <a:solidFill>
                  <a:srgbClr val="12233B"/>
                </a:solidFill>
                <a:latin typeface="Aptos"/>
              </a:rPr>
              <a:t>SUBSIDY CHANGE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148840"/>
            <a:ext cx="4937760" cy="116128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400" b="0">
                <a:solidFill>
                  <a:srgbClr val="263342"/>
                </a:solidFill>
                <a:latin typeface="Aptos"/>
              </a:rPr>
              <a:t>A subsidy can reduce the effective upfront cost and encourage adoption.
If support is reduced, some price-sensitive customers may delay purchase, switch models or choose petrol alternatives.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94760"/>
            <a:ext cx="105156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300" b="1">
                <a:solidFill>
                  <a:srgbClr val="647382"/>
                </a:solidFill>
                <a:latin typeface="Aptos"/>
              </a:rPr>
              <a:t>Illustrative scenario — not actual company sales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51960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4251960"/>
            <a:ext cx="73152" cy="1234440"/>
          </a:xfrm>
          <a:prstGeom prst="rect">
            <a:avLst/>
          </a:prstGeom>
          <a:solidFill>
            <a:srgbClr val="009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398264"/>
            <a:ext cx="306324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500" b="1">
                <a:solidFill>
                  <a:srgbClr val="12233B"/>
                </a:solidFill>
                <a:latin typeface="Aptos"/>
              </a:rPr>
              <a:t>Before 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846320"/>
            <a:ext cx="3063240" cy="5212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300" b="0">
                <a:solidFill>
                  <a:srgbClr val="263342"/>
                </a:solidFill>
                <a:latin typeface="Aptos"/>
              </a:rPr>
              <a:t>Effective price index: 100
Demand index: 100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4251960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89120" y="4251960"/>
            <a:ext cx="73152" cy="1234440"/>
          </a:xfrm>
          <a:prstGeom prst="rect">
            <a:avLst/>
          </a:prstGeom>
          <a:solidFill>
            <a:srgbClr val="F6B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398264"/>
            <a:ext cx="306324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500" b="1">
                <a:solidFill>
                  <a:srgbClr val="12233B"/>
                </a:solidFill>
                <a:latin typeface="Aptos"/>
              </a:rPr>
              <a:t>After price rises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846320"/>
            <a:ext cx="3063240" cy="5212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300" b="0">
                <a:solidFill>
                  <a:srgbClr val="263342"/>
                </a:solidFill>
                <a:latin typeface="Aptos"/>
              </a:rPr>
              <a:t>Price index: 110
Assumed demand index: 85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4251960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46720" y="4251960"/>
            <a:ext cx="73152" cy="1234440"/>
          </a:xfrm>
          <a:prstGeom prst="rect">
            <a:avLst/>
          </a:prstGeom>
          <a:solidFill>
            <a:srgbClr val="5ED3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4398264"/>
            <a:ext cx="306324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500" b="1">
                <a:solidFill>
                  <a:srgbClr val="12233B"/>
                </a:solidFill>
                <a:latin typeface="Aptos"/>
              </a:rPr>
              <a:t>Interpretation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846320"/>
            <a:ext cx="3063240" cy="5212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300" b="0">
                <a:solidFill>
                  <a:srgbClr val="263342"/>
                </a:solidFill>
                <a:latin typeface="Aptos"/>
              </a:rPr>
              <a:t>PED = (−15%) ÷ (+10%) = −1.5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715000"/>
            <a:ext cx="105156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100" b="0">
                <a:solidFill>
                  <a:srgbClr val="647382"/>
                </a:solidFill>
                <a:latin typeface="Aptos"/>
              </a:rPr>
              <a:t>The example assumes a 10% price rise and 15% demand fall only to demonstrate the calculation; validate with real data.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37960"/>
            <a:ext cx="10698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800" b="0">
                <a:solidFill>
                  <a:srgbClr val="647382"/>
                </a:solidFill>
                <a:latin typeface="Aptos"/>
              </a:rPr>
              <a:t>EV MARKET ENTRY STRATEGY  |  TATA.ev &amp; OLA ELECTRIC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510528"/>
            <a:ext cx="411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1">
                <a:solidFill>
                  <a:srgbClr val="009BA0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2700" b="1">
                <a:solidFill>
                  <a:srgbClr val="12233B"/>
                </a:solidFill>
                <a:latin typeface="Aptos"/>
              </a:rPr>
              <a:t>CO2 — Business Environment: Adoption &amp; Range Anxiety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96112"/>
            <a:ext cx="960120" cy="54864"/>
          </a:xfrm>
          <a:prstGeom prst="rect">
            <a:avLst/>
          </a:prstGeom>
          <a:solidFill>
            <a:srgbClr val="009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024128"/>
            <a:ext cx="1097280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200" b="0">
                <a:solidFill>
                  <a:srgbClr val="647382"/>
                </a:solidFill>
                <a:latin typeface="Aptos"/>
              </a:rPr>
              <a:t>Customers weigh practical ownership concerns alongside purchase price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52578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73152" cy="3474720"/>
          </a:xfrm>
          <a:prstGeom prst="rect">
            <a:avLst/>
          </a:prstGeom>
          <a:solidFill>
            <a:srgbClr val="009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700784"/>
            <a:ext cx="49377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700" b="1">
                <a:solidFill>
                  <a:srgbClr val="12233B"/>
                </a:solidFill>
                <a:latin typeface="Aptos"/>
              </a:rPr>
              <a:t>COMMON ADOPTION FACTORS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148840"/>
            <a:ext cx="4937760" cy="276148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500" b="0">
                <a:solidFill>
                  <a:srgbClr val="263342"/>
                </a:solidFill>
                <a:latin typeface="Aptos"/>
              </a:rPr>
              <a:t>• Driving range per charge
• Availability and reliability of charging points
• Charging time and convenience
• Battery warranty, safety and replacement cost
• Upfront price and long-term running cost
• Brand reputation and service network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54480"/>
            <a:ext cx="52578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554480"/>
            <a:ext cx="73152" cy="3474720"/>
          </a:xfrm>
          <a:prstGeom prst="rect">
            <a:avLst/>
          </a:prstGeom>
          <a:solidFill>
            <a:srgbClr val="F6B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700784"/>
            <a:ext cx="49377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700" b="1">
                <a:solidFill>
                  <a:srgbClr val="12233B"/>
                </a:solidFill>
                <a:latin typeface="Aptos"/>
              </a:rPr>
              <a:t>HOW FIRMS CAN RESPOND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148840"/>
            <a:ext cx="4937760" cy="276148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500" b="0">
                <a:solidFill>
                  <a:srgbClr val="263342"/>
                </a:solidFill>
                <a:latin typeface="Aptos"/>
              </a:rPr>
              <a:t>• Explain real-world range clearly and honestly
• Offer accessible service and warranty support
• Improve charging partnerships and route information
• Provide test drives and transparent ownership-cost comparisons
• Offer finance or battery-cost options where viable
• Collect customer feedback and address common concerns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94960"/>
            <a:ext cx="105156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500" b="1">
                <a:solidFill>
                  <a:srgbClr val="12233B"/>
                </a:solidFill>
                <a:latin typeface="Aptos"/>
              </a:rPr>
              <a:t>Business implication: reducing uncertainty can make customers more willing to consider an EV, even when the purchase price is not the lowest.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37960"/>
            <a:ext cx="10698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800" b="0">
                <a:solidFill>
                  <a:srgbClr val="647382"/>
                </a:solidFill>
                <a:latin typeface="Aptos"/>
              </a:rPr>
              <a:t>EV MARKET ENTRY STRATEGY  |  TATA.ev &amp; OLA ELECTRIC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0528"/>
            <a:ext cx="411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1">
                <a:solidFill>
                  <a:srgbClr val="009BA0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2700" b="1">
                <a:solidFill>
                  <a:srgbClr val="12233B"/>
                </a:solidFill>
                <a:latin typeface="Aptos"/>
              </a:rPr>
              <a:t>CO3 — Manufacturing Capacity &amp; Economies of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96112"/>
            <a:ext cx="960120" cy="54864"/>
          </a:xfrm>
          <a:prstGeom prst="rect">
            <a:avLst/>
          </a:prstGeom>
          <a:solidFill>
            <a:srgbClr val="009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024128"/>
            <a:ext cx="1097280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200" b="0">
                <a:solidFill>
                  <a:srgbClr val="647382"/>
                </a:solidFill>
                <a:latin typeface="Aptos"/>
              </a:rPr>
              <a:t>Capacity decisions balance cost efficiency with the risk of producing too much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34747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73152" cy="2011680"/>
          </a:xfrm>
          <a:prstGeom prst="rect">
            <a:avLst/>
          </a:prstGeom>
          <a:solidFill>
            <a:srgbClr val="F6B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746504"/>
            <a:ext cx="3154679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600" b="1">
                <a:solidFill>
                  <a:srgbClr val="12233B"/>
                </a:solidFill>
                <a:latin typeface="Aptos"/>
              </a:rPr>
              <a:t>LOW OUTPUT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194560"/>
            <a:ext cx="3154679" cy="12984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400" b="0">
                <a:solidFill>
                  <a:srgbClr val="263342"/>
                </a:solidFill>
                <a:latin typeface="Aptos"/>
              </a:rPr>
              <a:t>Fixed costs are spread across fewer vehicles, so average cost may be high.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00200"/>
            <a:ext cx="34747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600200"/>
            <a:ext cx="73152" cy="2011680"/>
          </a:xfrm>
          <a:prstGeom prst="rect">
            <a:avLst/>
          </a:prstGeom>
          <a:solidFill>
            <a:srgbClr val="009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746504"/>
            <a:ext cx="3154679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600" b="1">
                <a:solidFill>
                  <a:srgbClr val="12233B"/>
                </a:solidFill>
                <a:latin typeface="Aptos"/>
              </a:rPr>
              <a:t>EFFICIENT 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194560"/>
            <a:ext cx="3154679" cy="12984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400" b="0">
                <a:solidFill>
                  <a:srgbClr val="263342"/>
                </a:solidFill>
                <a:latin typeface="Aptos"/>
              </a:rPr>
              <a:t>Higher, well-utilised output can spread fixed costs and improve purchasing power.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00200"/>
            <a:ext cx="34747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600200"/>
            <a:ext cx="73152" cy="2011680"/>
          </a:xfrm>
          <a:prstGeom prst="rect">
            <a:avLst/>
          </a:prstGeom>
          <a:solidFill>
            <a:srgbClr val="5ED3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746504"/>
            <a:ext cx="3154679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600" b="1">
                <a:solidFill>
                  <a:srgbClr val="12233B"/>
                </a:solidFill>
                <a:latin typeface="Aptos"/>
              </a:rPr>
              <a:t>OVER-CAPACITY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194560"/>
            <a:ext cx="3154679" cy="12984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400" b="0">
                <a:solidFill>
                  <a:srgbClr val="263342"/>
                </a:solidFill>
                <a:latin typeface="Aptos"/>
              </a:rPr>
              <a:t>If demand is lower than expected, idle factories and unsold stock can increase costs.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069080"/>
            <a:ext cx="1060704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700" b="1">
                <a:solidFill>
                  <a:srgbClr val="12233B"/>
                </a:solidFill>
                <a:latin typeface="Aptos"/>
              </a:rPr>
              <a:t>Recommended decision logic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480560"/>
            <a:ext cx="10607040" cy="1417320"/>
          </a:xfrm>
          <a:prstGeom prst="rect">
            <a:avLst/>
          </a:prstGeom>
          <a:noFill/>
        </p:spPr>
        <p:txBody>
          <a:bodyPr wrap="square" lIns="73152" rIns="54864" tIns="36576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63342"/>
                </a:solidFill>
                <a:latin typeface="Aptos"/>
              </a:defRPr>
            </a:pPr>
            <a:r>
              <a:t>•  Forecast demand under different price and subsidy scenarios before expanding capacity.</a:t>
            </a:r>
          </a:p>
          <a:p>
            <a:pPr>
              <a:spcAft>
                <a:spcPts val="800"/>
              </a:spcAft>
              <a:defRPr sz="1500">
                <a:solidFill>
                  <a:srgbClr val="263342"/>
                </a:solidFill>
                <a:latin typeface="Aptos"/>
              </a:defRPr>
            </a:pPr>
            <a:r>
              <a:t>•  Scale production in stages; monitor utilisation, inventory, delivery time and unit cost.</a:t>
            </a:r>
          </a:p>
          <a:p>
            <a:pPr>
              <a:spcAft>
                <a:spcPts val="800"/>
              </a:spcAft>
              <a:defRPr sz="1500">
                <a:solidFill>
                  <a:srgbClr val="263342"/>
                </a:solidFill>
                <a:latin typeface="Aptos"/>
              </a:defRPr>
            </a:pPr>
            <a:r>
              <a:t>•  Compare in-house production, supplier contracts and flexible capacity options.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37960"/>
            <a:ext cx="10698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800" b="0">
                <a:solidFill>
                  <a:srgbClr val="647382"/>
                </a:solidFill>
                <a:latin typeface="Aptos"/>
              </a:rPr>
              <a:t>EV MARKET ENTRY STRATEGY  |  TATA.ev &amp; OLA ELECTRIC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510528"/>
            <a:ext cx="411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1">
                <a:solidFill>
                  <a:srgbClr val="009BA0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2700" b="1">
                <a:solidFill>
                  <a:srgbClr val="12233B"/>
                </a:solidFill>
                <a:latin typeface="Aptos"/>
              </a:rPr>
              <a:t>CO4 — Competitive Entry Deterrence &amp; Limit Pricing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96112"/>
            <a:ext cx="960120" cy="54864"/>
          </a:xfrm>
          <a:prstGeom prst="rect">
            <a:avLst/>
          </a:prstGeom>
          <a:solidFill>
            <a:srgbClr val="009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024128"/>
            <a:ext cx="1097280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200" b="0">
                <a:solidFill>
                  <a:srgbClr val="647382"/>
                </a:solidFill>
                <a:latin typeface="Aptos"/>
              </a:rPr>
              <a:t>Incumbents may use pricing and capacity choices to influence the attractiveness of entry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52578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73152" cy="2057400"/>
          </a:xfrm>
          <a:prstGeom prst="rect">
            <a:avLst/>
          </a:prstGeom>
          <a:solidFill>
            <a:srgbClr val="009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700784"/>
            <a:ext cx="49377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700" b="1">
                <a:solidFill>
                  <a:srgbClr val="12233B"/>
                </a:solidFill>
                <a:latin typeface="Aptos"/>
              </a:rPr>
              <a:t>ENTRY DETERRENCE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148840"/>
            <a:ext cx="4937760" cy="1344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400" b="0">
                <a:solidFill>
                  <a:srgbClr val="263342"/>
                </a:solidFill>
                <a:latin typeface="Aptos"/>
              </a:rPr>
              <a:t>Actions taken by an established firm that may make entry harder, such as building brand loyalty, improving service coverage, securing suppliers or investing in scale.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54480"/>
            <a:ext cx="52578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554480"/>
            <a:ext cx="73152" cy="2057400"/>
          </a:xfrm>
          <a:prstGeom prst="rect">
            <a:avLst/>
          </a:prstGeom>
          <a:solidFill>
            <a:srgbClr val="F6B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700784"/>
            <a:ext cx="49377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700" b="1">
                <a:solidFill>
                  <a:srgbClr val="12233B"/>
                </a:solidFill>
                <a:latin typeface="Aptos"/>
              </a:rPr>
              <a:t>LIMIT PRICING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148840"/>
            <a:ext cx="4937760" cy="1344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400" b="0">
                <a:solidFill>
                  <a:srgbClr val="263342"/>
                </a:solidFill>
                <a:latin typeface="Aptos"/>
              </a:rPr>
              <a:t>An incumbent may set a price low enough to make entry less attractive, while still needing to cover costs over time. It is not automatically profitable or sustainable.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977639"/>
            <a:ext cx="105156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700" b="1">
                <a:solidFill>
                  <a:srgbClr val="12233B"/>
                </a:solidFill>
                <a:latin typeface="Aptos"/>
              </a:rPr>
              <a:t>Application to EVs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389120"/>
            <a:ext cx="10515600" cy="1371600"/>
          </a:xfrm>
          <a:prstGeom prst="rect">
            <a:avLst/>
          </a:prstGeom>
          <a:noFill/>
        </p:spPr>
        <p:txBody>
          <a:bodyPr wrap="square" lIns="73152" rIns="54864" tIns="36576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63342"/>
                </a:solidFill>
                <a:latin typeface="Aptos"/>
              </a:defRPr>
            </a:pPr>
            <a:r>
              <a:t>•  Tata.ev and Ola Electric operate in different primary vehicle segments, so comparisons should account for cars versus scooters.</a:t>
            </a:r>
          </a:p>
          <a:p>
            <a:pPr>
              <a:spcAft>
                <a:spcPts val="800"/>
              </a:spcAft>
              <a:defRPr sz="1500">
                <a:solidFill>
                  <a:srgbClr val="263342"/>
                </a:solidFill>
                <a:latin typeface="Aptos"/>
              </a:defRPr>
            </a:pPr>
            <a:r>
              <a:t>•  Potential advantages include manufacturing scale, distribution, service quality, battery technology and customer trust.</a:t>
            </a:r>
          </a:p>
          <a:p>
            <a:pPr>
              <a:spcAft>
                <a:spcPts val="800"/>
              </a:spcAft>
              <a:defRPr sz="1500">
                <a:solidFill>
                  <a:srgbClr val="263342"/>
                </a:solidFill>
                <a:latin typeface="Aptos"/>
              </a:defRPr>
            </a:pPr>
            <a:r>
              <a:t>•  Avoid assuming predatory behaviour from low prices alone; pricing can also reflect efficiency, promotions or product positioning.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37960"/>
            <a:ext cx="10698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800" b="0">
                <a:solidFill>
                  <a:srgbClr val="647382"/>
                </a:solidFill>
                <a:latin typeface="Aptos"/>
              </a:rPr>
              <a:t>EV MARKET ENTRY STRATEGY  |  TATA.ev &amp; OLA ELECTRIC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510528"/>
            <a:ext cx="411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1">
                <a:solidFill>
                  <a:srgbClr val="009BA0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2700" b="1">
                <a:solidFill>
                  <a:srgbClr val="12233B"/>
                </a:solidFill>
                <a:latin typeface="Aptos"/>
              </a:rPr>
              <a:t>5. Project Approach / 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96112"/>
            <a:ext cx="960120" cy="54864"/>
          </a:xfrm>
          <a:prstGeom prst="rect">
            <a:avLst/>
          </a:prstGeom>
          <a:solidFill>
            <a:srgbClr val="009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024128"/>
            <a:ext cx="1097280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200" b="0">
                <a:solidFill>
                  <a:srgbClr val="647382"/>
                </a:solidFill>
                <a:latin typeface="Aptos"/>
              </a:rPr>
              <a:t>A step-by-step workflow from collecting data to preparing the final report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525780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63040"/>
            <a:ext cx="73152" cy="1261872"/>
          </a:xfrm>
          <a:prstGeom prst="rect">
            <a:avLst/>
          </a:prstGeom>
          <a:solidFill>
            <a:srgbClr val="009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609344"/>
            <a:ext cx="49377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500" b="1">
                <a:solidFill>
                  <a:srgbClr val="12233B"/>
                </a:solidFill>
                <a:latin typeface="Aptos"/>
              </a:rPr>
              <a:t>1. Data collection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057400"/>
            <a:ext cx="4937760" cy="54863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100" b="0">
                <a:solidFill>
                  <a:srgbClr val="263342"/>
                </a:solidFill>
                <a:latin typeface="Aptos"/>
              </a:rPr>
              <a:t>Collect public information on prices, subsidy rules, model range, sales/adoption indicators, charging infrastructure and company announcements.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63040"/>
            <a:ext cx="525780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463040"/>
            <a:ext cx="73152" cy="1261872"/>
          </a:xfrm>
          <a:prstGeom prst="rect">
            <a:avLst/>
          </a:prstGeom>
          <a:solidFill>
            <a:srgbClr val="F6B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609344"/>
            <a:ext cx="49377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500" b="1">
                <a:solidFill>
                  <a:srgbClr val="12233B"/>
                </a:solidFill>
                <a:latin typeface="Aptos"/>
              </a:rPr>
              <a:t>2. Data cleaning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057400"/>
            <a:ext cx="4937760" cy="54863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100" b="0">
                <a:solidFill>
                  <a:srgbClr val="263342"/>
                </a:solidFill>
                <a:latin typeface="Aptos"/>
              </a:rPr>
              <a:t>Remove duplicates, standardise dates and units, handle missing values, and separate car and scooter segments.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99232"/>
            <a:ext cx="525780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999232"/>
            <a:ext cx="73152" cy="1261872"/>
          </a:xfrm>
          <a:prstGeom prst="rect">
            <a:avLst/>
          </a:prstGeom>
          <a:solidFill>
            <a:srgbClr val="5ED3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3145536"/>
            <a:ext cx="49377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500" b="1">
                <a:solidFill>
                  <a:srgbClr val="12233B"/>
                </a:solidFill>
                <a:latin typeface="Aptos"/>
              </a:rPr>
              <a:t>3. Data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3593592"/>
            <a:ext cx="4937760" cy="54863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100" b="0">
                <a:solidFill>
                  <a:srgbClr val="263342"/>
                </a:solidFill>
                <a:latin typeface="Aptos"/>
              </a:rPr>
              <a:t>Calculate percentage changes and illustrative elasticity; compare adoption barriers; examine cost/scale and competitive strategies.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999232"/>
            <a:ext cx="525780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2999232"/>
            <a:ext cx="73152" cy="1261872"/>
          </a:xfrm>
          <a:prstGeom prst="rect">
            <a:avLst/>
          </a:prstGeom>
          <a:solidFill>
            <a:srgbClr val="009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145536"/>
            <a:ext cx="49377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500" b="1">
                <a:solidFill>
                  <a:srgbClr val="12233B"/>
                </a:solidFill>
                <a:latin typeface="Aptos"/>
              </a:rPr>
              <a:t>4. Python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593592"/>
            <a:ext cx="4937760" cy="54863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100" b="0">
                <a:solidFill>
                  <a:srgbClr val="263342"/>
                </a:solidFill>
                <a:latin typeface="Aptos"/>
              </a:rPr>
              <a:t>Use pandas for data tables and cleaning; use calculations and matplotlib charts to show trends and scenarios.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535424"/>
            <a:ext cx="525780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4535424"/>
            <a:ext cx="73152" cy="1261872"/>
          </a:xfrm>
          <a:prstGeom prst="rect">
            <a:avLst/>
          </a:prstGeom>
          <a:solidFill>
            <a:srgbClr val="F6B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59" y="4681728"/>
            <a:ext cx="49377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500" b="1">
                <a:solidFill>
                  <a:srgbClr val="12233B"/>
                </a:solidFill>
                <a:latin typeface="Aptos"/>
              </a:rPr>
              <a:t>5. Findings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5129784"/>
            <a:ext cx="4937760" cy="54863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100" b="0">
                <a:solidFill>
                  <a:srgbClr val="263342"/>
                </a:solidFill>
                <a:latin typeface="Aptos"/>
              </a:rPr>
              <a:t>Summarise patterns, assumptions, limitations and what the results imply for EV market entry.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535424"/>
            <a:ext cx="525780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4535424"/>
            <a:ext cx="73152" cy="1261872"/>
          </a:xfrm>
          <a:prstGeom prst="rect">
            <a:avLst/>
          </a:prstGeom>
          <a:solidFill>
            <a:srgbClr val="5ED3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681728"/>
            <a:ext cx="49377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500" b="1">
                <a:solidFill>
                  <a:srgbClr val="12233B"/>
                </a:solidFill>
                <a:latin typeface="Aptos"/>
              </a:rPr>
              <a:t>6. Final report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5129784"/>
            <a:ext cx="4937760" cy="54863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100" b="0">
                <a:solidFill>
                  <a:srgbClr val="263342"/>
                </a:solidFill>
                <a:latin typeface="Aptos"/>
              </a:rPr>
              <a:t>Prepare conclusions, recommendations, references and appendices; check that charts and claims match the sources.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37960"/>
            <a:ext cx="10698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800" b="0">
                <a:solidFill>
                  <a:srgbClr val="647382"/>
                </a:solidFill>
                <a:latin typeface="Aptos"/>
              </a:rPr>
              <a:t>EV MARKET ENTRY STRATEGY  |  TATA.ev &amp; OLA ELECTRIC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510528"/>
            <a:ext cx="411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1">
                <a:solidFill>
                  <a:srgbClr val="009BA0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2700" b="1">
                <a:solidFill>
                  <a:srgbClr val="12233B"/>
                </a:solidFill>
                <a:latin typeface="Aptos"/>
              </a:rPr>
              <a:t>Python: Example Analysis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96112"/>
            <a:ext cx="960120" cy="54864"/>
          </a:xfrm>
          <a:prstGeom prst="rect">
            <a:avLst/>
          </a:prstGeom>
          <a:solidFill>
            <a:srgbClr val="009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024128"/>
            <a:ext cx="1097280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200" b="0">
                <a:solidFill>
                  <a:srgbClr val="647382"/>
                </a:solidFill>
                <a:latin typeface="Aptos"/>
              </a:rPr>
              <a:t>The project can use a small, transparent dataset and label illustrative values clearly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521208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800" b="1">
                <a:solidFill>
                  <a:srgbClr val="12233B"/>
                </a:solidFill>
                <a:latin typeface="Aptos"/>
              </a:rPr>
              <a:t>Suggested columns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65960"/>
            <a:ext cx="4846320" cy="3108960"/>
          </a:xfrm>
          <a:prstGeom prst="rect">
            <a:avLst/>
          </a:prstGeom>
          <a:noFill/>
        </p:spPr>
        <p:txBody>
          <a:bodyPr wrap="square" lIns="73152" rIns="54864" tIns="36576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63342"/>
                </a:solidFill>
                <a:latin typeface="Aptos"/>
              </a:defRPr>
            </a:pPr>
            <a:r>
              <a:t>•  date / period</a:t>
            </a:r>
          </a:p>
          <a:p>
            <a:pPr>
              <a:spcAft>
                <a:spcPts val="800"/>
              </a:spcAft>
              <a:defRPr sz="1500">
                <a:solidFill>
                  <a:srgbClr val="263342"/>
                </a:solidFill>
                <a:latin typeface="Aptos"/>
              </a:defRPr>
            </a:pPr>
            <a:r>
              <a:t>•  vehicle segment (car or scooter)</a:t>
            </a:r>
          </a:p>
          <a:p>
            <a:pPr>
              <a:spcAft>
                <a:spcPts val="800"/>
              </a:spcAft>
              <a:defRPr sz="1500">
                <a:solidFill>
                  <a:srgbClr val="263342"/>
                </a:solidFill>
                <a:latin typeface="Aptos"/>
              </a:defRPr>
            </a:pPr>
            <a:r>
              <a:t>•  model and listed price</a:t>
            </a:r>
          </a:p>
          <a:p>
            <a:pPr>
              <a:spcAft>
                <a:spcPts val="800"/>
              </a:spcAft>
              <a:defRPr sz="1500">
                <a:solidFill>
                  <a:srgbClr val="263342"/>
                </a:solidFill>
                <a:latin typeface="Aptos"/>
              </a:defRPr>
            </a:pPr>
            <a:r>
              <a:t>•  subsidy amount, if applicable</a:t>
            </a:r>
          </a:p>
          <a:p>
            <a:pPr>
              <a:spcAft>
                <a:spcPts val="800"/>
              </a:spcAft>
              <a:defRPr sz="1500">
                <a:solidFill>
                  <a:srgbClr val="263342"/>
                </a:solidFill>
                <a:latin typeface="Aptos"/>
              </a:defRPr>
            </a:pPr>
            <a:r>
              <a:t>•  sales or registrations (with source)</a:t>
            </a:r>
          </a:p>
          <a:p>
            <a:pPr>
              <a:spcAft>
                <a:spcPts val="800"/>
              </a:spcAft>
              <a:defRPr sz="1500">
                <a:solidFill>
                  <a:srgbClr val="263342"/>
                </a:solidFill>
                <a:latin typeface="Aptos"/>
              </a:defRPr>
            </a:pPr>
            <a:r>
              <a:t>•  range, charging or warranty indicators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80" y="1508760"/>
            <a:ext cx="539496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800" b="1">
                <a:solidFill>
                  <a:srgbClr val="12233B"/>
                </a:solidFill>
                <a:latin typeface="Aptos"/>
              </a:rPr>
              <a:t>Example Python workflow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1965960"/>
            <a:ext cx="5486400" cy="3291840"/>
          </a:xfrm>
          <a:prstGeom prst="roundRect">
            <a:avLst/>
          </a:prstGeom>
          <a:solidFill>
            <a:srgbClr val="12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80760" y="2148840"/>
            <a:ext cx="5029200" cy="2971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F5F4"/>
                </a:solidFill>
                <a:latin typeface="Consolas"/>
              </a:defRPr>
            </a:pPr>
            <a:r>
              <a:t>import pandas as pd</a:t>
            </a:r>
          </a:p>
          <a:p>
            <a:pPr>
              <a:defRPr sz="1200">
                <a:solidFill>
                  <a:srgbClr val="DCF5F4"/>
                </a:solidFill>
                <a:latin typeface="Consolas"/>
              </a:defRPr>
            </a:pPr>
            <a:r>
              <a:t>import matplotlib.pyplot as plt</a:t>
            </a:r>
          </a:p>
          <a:p>
            <a:pPr>
              <a:defRPr sz="1200">
                <a:solidFill>
                  <a:srgbClr val="DCF5F4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DCF5F4"/>
                </a:solidFill>
                <a:latin typeface="Consolas"/>
              </a:defRPr>
            </a:pPr>
            <a:r>
              <a:t>df = pd.read_csv("ev_data.csv")</a:t>
            </a:r>
          </a:p>
          <a:p>
            <a:pPr>
              <a:defRPr sz="1200">
                <a:solidFill>
                  <a:srgbClr val="DCF5F4"/>
                </a:solidFill>
                <a:latin typeface="Consolas"/>
              </a:defRPr>
            </a:pPr>
            <a:r>
              <a:t>df = df.drop_duplicates()</a:t>
            </a:r>
          </a:p>
          <a:p>
            <a:pPr>
              <a:defRPr sz="1200">
                <a:solidFill>
                  <a:srgbClr val="DCF5F4"/>
                </a:solidFill>
                <a:latin typeface="Consolas"/>
              </a:defRPr>
            </a:pPr>
            <a:r>
              <a:t>df["price"] = pd.to_numeric(df["price"], errors="coerce")</a:t>
            </a:r>
          </a:p>
          <a:p>
            <a:pPr>
              <a:defRPr sz="1200">
                <a:solidFill>
                  <a:srgbClr val="DCF5F4"/>
                </a:solidFill>
                <a:latin typeface="Consolas"/>
              </a:defRPr>
            </a:pPr>
            <a:r>
              <a:t>df = df.dropna(subset=["price"])</a:t>
            </a:r>
          </a:p>
          <a:p>
            <a:pPr>
              <a:defRPr sz="1200">
                <a:solidFill>
                  <a:srgbClr val="DCF5F4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DCF5F4"/>
                </a:solidFill>
                <a:latin typeface="Consolas"/>
              </a:defRPr>
            </a:pPr>
            <a:r>
              <a:t>summary = df.groupby("segment")["price"].mean()</a:t>
            </a:r>
          </a:p>
          <a:p>
            <a:pPr>
              <a:defRPr sz="1200">
                <a:solidFill>
                  <a:srgbClr val="DCF5F4"/>
                </a:solidFill>
                <a:latin typeface="Consolas"/>
              </a:defRPr>
            </a:pPr>
            <a:r>
              <a:t>summary.plot(kind="bar")</a:t>
            </a:r>
          </a:p>
          <a:p>
            <a:pPr>
              <a:defRPr sz="1200">
                <a:solidFill>
                  <a:srgbClr val="DCF5F4"/>
                </a:solidFill>
                <a:latin typeface="Consolas"/>
              </a:defRPr>
            </a:pPr>
            <a:r>
              <a:t>plt.ylabel("Average listed price")</a:t>
            </a:r>
          </a:p>
          <a:p>
            <a:pPr>
              <a:defRPr sz="1200">
                <a:solidFill>
                  <a:srgbClr val="DCF5F4"/>
                </a:solidFill>
                <a:latin typeface="Consolas"/>
              </a:defRPr>
            </a:pPr>
            <a:r>
              <a:t>plt.title("EV price comparison by segment")</a:t>
            </a:r>
          </a:p>
          <a:p>
            <a:pPr>
              <a:defRPr sz="1200">
                <a:solidFill>
                  <a:srgbClr val="DCF5F4"/>
                </a:solidFill>
                <a:latin typeface="Consolas"/>
              </a:defRPr>
            </a:pPr>
            <a:r>
              <a:t>plt.tight_layout()</a:t>
            </a:r>
          </a:p>
          <a:p>
            <a:pPr>
              <a:defRPr sz="1200">
                <a:solidFill>
                  <a:srgbClr val="DCF5F4"/>
                </a:solidFill>
                <a:latin typeface="Consolas"/>
              </a:defRPr>
            </a:pPr>
            <a:r>
              <a:t>plt.show()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440680"/>
            <a:ext cx="1069848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300" b="0">
                <a:solidFill>
                  <a:srgbClr val="647382"/>
                </a:solidFill>
                <a:latin typeface="Aptos"/>
              </a:rPr>
              <a:t>Important: use sourced data where possible. If real sales or elasticity estimates are unavailable, report scenario analysis rather than presenting assumptions as facts.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37960"/>
            <a:ext cx="10698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800" b="0">
                <a:solidFill>
                  <a:srgbClr val="647382"/>
                </a:solidFill>
                <a:latin typeface="Aptos"/>
              </a:rPr>
              <a:t>EV MARKET ENTRY STRATEGY  |  TATA.ev &amp; OLA ELECTRIC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510528"/>
            <a:ext cx="411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1">
                <a:solidFill>
                  <a:srgbClr val="009BA0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2700" b="1">
                <a:solidFill>
                  <a:srgbClr val="12233B"/>
                </a:solidFill>
                <a:latin typeface="Aptos"/>
              </a:rPr>
              <a:t>Expected Findings &amp; Recommendations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96112"/>
            <a:ext cx="960120" cy="54864"/>
          </a:xfrm>
          <a:prstGeom prst="rect">
            <a:avLst/>
          </a:prstGeom>
          <a:solidFill>
            <a:srgbClr val="009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024128"/>
            <a:ext cx="1097280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200" b="0">
                <a:solidFill>
                  <a:srgbClr val="647382"/>
                </a:solidFill>
                <a:latin typeface="Aptos"/>
              </a:rPr>
              <a:t>What the combined analysis is designed to reveal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73152" cy="1828800"/>
          </a:xfrm>
          <a:prstGeom prst="rect">
            <a:avLst/>
          </a:prstGeom>
          <a:solidFill>
            <a:srgbClr val="009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746504"/>
            <a:ext cx="320040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700" b="1">
                <a:solidFill>
                  <a:srgbClr val="12233B"/>
                </a:solidFill>
                <a:latin typeface="Aptos"/>
              </a:rPr>
              <a:t>DEMAND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194560"/>
            <a:ext cx="3200400" cy="11155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400" b="0">
                <a:solidFill>
                  <a:srgbClr val="263342"/>
                </a:solidFill>
                <a:latin typeface="Aptos"/>
              </a:rPr>
              <a:t>Price-sensitive buyers may respond to subsidy changes; the size of the response must be measured, not assumed.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0020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600200"/>
            <a:ext cx="73152" cy="1828800"/>
          </a:xfrm>
          <a:prstGeom prst="rect">
            <a:avLst/>
          </a:prstGeom>
          <a:solidFill>
            <a:srgbClr val="F6B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746504"/>
            <a:ext cx="320040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700" b="1">
                <a:solidFill>
                  <a:srgbClr val="12233B"/>
                </a:solidFill>
                <a:latin typeface="Aptos"/>
              </a:rPr>
              <a:t>ADOPTION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194560"/>
            <a:ext cx="3200400" cy="11155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400" b="0">
                <a:solidFill>
                  <a:srgbClr val="263342"/>
                </a:solidFill>
                <a:latin typeface="Aptos"/>
              </a:rPr>
              <a:t>Range confidence, charging convenience, service and warranty can influence adoption alongside price.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0020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600200"/>
            <a:ext cx="73152" cy="1828800"/>
          </a:xfrm>
          <a:prstGeom prst="rect">
            <a:avLst/>
          </a:prstGeom>
          <a:solidFill>
            <a:srgbClr val="5ED3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746504"/>
            <a:ext cx="320040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700" b="1">
                <a:solidFill>
                  <a:srgbClr val="12233B"/>
                </a:solidFill>
                <a:latin typeface="Aptos"/>
              </a:rPr>
              <a:t>OPERATIONS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194560"/>
            <a:ext cx="3200400" cy="11155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400" b="0">
                <a:solidFill>
                  <a:srgbClr val="263342"/>
                </a:solidFill>
                <a:latin typeface="Aptos"/>
              </a:rPr>
              <a:t>Capacity expansion is strongest when supported by credible demand forecasts and high utilisation.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977639"/>
            <a:ext cx="10607040" cy="1554480"/>
          </a:xfrm>
          <a:prstGeom prst="rect">
            <a:avLst/>
          </a:prstGeom>
          <a:noFill/>
        </p:spPr>
        <p:txBody>
          <a:bodyPr wrap="square" lIns="73152" rIns="54864" tIns="36576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63342"/>
                </a:solidFill>
                <a:latin typeface="Aptos"/>
              </a:defRPr>
            </a:pPr>
            <a:r>
              <a:t>•  Use segment-specific strategies: electric cars and electric scooters do not have identical buyers or use cases.</a:t>
            </a:r>
          </a:p>
          <a:p>
            <a:pPr>
              <a:spcAft>
                <a:spcPts val="1000"/>
              </a:spcAft>
              <a:defRPr sz="1600">
                <a:solidFill>
                  <a:srgbClr val="263342"/>
                </a:solidFill>
                <a:latin typeface="Aptos"/>
              </a:defRPr>
            </a:pPr>
            <a:r>
              <a:t>•  Combine competitive pricing with product value, service quality and cost discipline.</a:t>
            </a:r>
          </a:p>
          <a:p>
            <a:pPr>
              <a:spcAft>
                <a:spcPts val="1000"/>
              </a:spcAft>
              <a:defRPr sz="1600">
                <a:solidFill>
                  <a:srgbClr val="263342"/>
                </a:solidFill>
                <a:latin typeface="Aptos"/>
              </a:defRPr>
            </a:pPr>
            <a:r>
              <a:t>•  Make conclusions proportional to the evidence; distinguish sourced facts from assumptions and examples.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37960"/>
            <a:ext cx="10698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800" b="0">
                <a:solidFill>
                  <a:srgbClr val="647382"/>
                </a:solidFill>
                <a:latin typeface="Aptos"/>
              </a:rPr>
              <a:t>EV MARKET ENTRY STRATEGY  |  TATA.ev &amp; OLA ELECTRIC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510528"/>
            <a:ext cx="411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1">
                <a:solidFill>
                  <a:srgbClr val="009BA0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6984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515600" cy="10515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2200" b="1">
                <a:solidFill>
                  <a:srgbClr val="DDF1F2"/>
                </a:solidFill>
                <a:latin typeface="Aptos"/>
              </a:rPr>
              <a:t>Successful EV market entry requires more than a low price: it combines affordability, customer confidence, efficient production and a clear competitive position.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06040"/>
            <a:ext cx="1060704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500" b="1">
                <a:solidFill>
                  <a:srgbClr val="F6B73C"/>
                </a:solidFill>
                <a:latin typeface="Aptos"/>
              </a:rPr>
              <a:t>Selected references (accessed for project framing)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063240"/>
            <a:ext cx="10515600" cy="2103120"/>
          </a:xfrm>
          <a:prstGeom prst="rect">
            <a:avLst/>
          </a:prstGeom>
          <a:noFill/>
        </p:spPr>
        <p:txBody>
          <a:bodyPr wrap="square" lIns="73152" rIns="54864" tIns="36576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E7EFF3"/>
                </a:solidFill>
                <a:latin typeface="Aptos"/>
              </a:defRPr>
            </a:pPr>
            <a:r>
              <a:t>•  Government of India, PM E-DRIVE Scheme portal and policy notifications: https://pmedrive.heavyindustries.gov.in/</a:t>
            </a:r>
          </a:p>
          <a:p>
            <a:pPr>
              <a:spcAft>
                <a:spcPts val="700"/>
              </a:spcAft>
              <a:defRPr sz="1100">
                <a:solidFill>
                  <a:srgbClr val="E7EFF3"/>
                </a:solidFill>
                <a:latin typeface="Aptos"/>
              </a:defRPr>
            </a:pPr>
            <a:r>
              <a:t>•  Press Information Bureau, “PM E-DRIVE Scheme,” 3 February 2026: https://www.pib.gov.in/PressReleasePage.aspx?PRID=2222604&amp;lang=1&amp;reg=3</a:t>
            </a:r>
          </a:p>
          <a:p>
            <a:pPr>
              <a:spcAft>
                <a:spcPts val="700"/>
              </a:spcAft>
              <a:defRPr sz="1100">
                <a:solidFill>
                  <a:srgbClr val="E7EFF3"/>
                </a:solidFill>
                <a:latin typeface="Aptos"/>
              </a:defRPr>
            </a:pPr>
            <a:r>
              <a:t>•  TATA.ev, “TATA.ev accelerates mainstream EV adoption with the New Punch.ev,” 20 June 2026: https://ev.tata.cars/articles/press-releases/tata-ev-accelerates-mainstream-ev-adoption-with-the-new-punch-ev.html</a:t>
            </a:r>
          </a:p>
          <a:p>
            <a:pPr>
              <a:spcAft>
                <a:spcPts val="700"/>
              </a:spcAft>
              <a:defRPr sz="1100">
                <a:solidFill>
                  <a:srgbClr val="E7EFF3"/>
                </a:solidFill>
                <a:latin typeface="Aptos"/>
              </a:defRPr>
            </a:pPr>
            <a:r>
              <a:t>•  Reuters, “India’s Tata Motors targets mass EV adoption with low-priced, fast-charging Punch,” 20 February 2026.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669280"/>
            <a:ext cx="68580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2000" b="1">
                <a:solidFill>
                  <a:srgbClr val="5ED3D5"/>
                </a:solidFill>
                <a:latin typeface="Aptos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5623560"/>
            <a:ext cx="36576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700" b="1">
                <a:solidFill>
                  <a:srgbClr val="FFFFFF"/>
                </a:solidFill>
                <a:latin typeface="Aptos"/>
              </a:rPr>
              <a:t>Questions?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37960"/>
            <a:ext cx="10698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800" b="0">
                <a:solidFill>
                  <a:srgbClr val="647382"/>
                </a:solidFill>
                <a:latin typeface="Aptos"/>
              </a:rPr>
              <a:t>EV MARKET ENTRY STRATEGY  |  TATA.ev &amp; OLA ELECTRIC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0528"/>
            <a:ext cx="411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1">
                <a:solidFill>
                  <a:srgbClr val="009BA0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